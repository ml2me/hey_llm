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3" r:id="rId5"/>
    <p:sldId id="259" r:id="rId6"/>
    <p:sldId id="265" r:id="rId7"/>
    <p:sldId id="262" r:id="rId8"/>
    <p:sldId id="260" r:id="rId9"/>
    <p:sldId id="264" r:id="rId10"/>
  </p:sldIdLst>
  <p:sldSz cx="9144000" cy="5143500" type="screen16x9"/>
  <p:notesSz cx="5143500" cy="9144000"/>
  <p:embeddedFontLst>
    <p:embeddedFont>
      <p:font typeface="SB Sans Display Bold" panose="020B0604020202020204" charset="0"/>
      <p:regular r:id="rId12"/>
    </p:embeddedFont>
    <p:embeddedFont>
      <p:font typeface="SB Sans Text" panose="020B0604020202020204" charset="-52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43AD7-E749-5E1E-371D-A585C0C727CD}" name="User" initials="U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1" autoAdjust="0"/>
    <p:restoredTop sz="64860" autoAdjust="0"/>
  </p:normalViewPr>
  <p:slideViewPr>
    <p:cSldViewPr snapToGrid="0" snapToObjects="1">
      <p:cViewPr varScale="1">
        <p:scale>
          <a:sx n="83" d="100"/>
          <a:sy n="83" d="100"/>
        </p:scale>
        <p:origin x="313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53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Добрый день, коллеги</a:t>
            </a:r>
          </a:p>
          <a:p>
            <a:r>
              <a:rPr lang="ru-RU" dirty="0"/>
              <a:t>Я представляю вам проект Эй, БЯМ</a:t>
            </a:r>
          </a:p>
          <a:p>
            <a:r>
              <a:rPr lang="ru-RU" dirty="0"/>
              <a:t>БЯМ, как вы наверное уже догадались это большая языковая модель</a:t>
            </a:r>
          </a:p>
          <a:p>
            <a:r>
              <a:rPr lang="ru-RU" dirty="0"/>
              <a:t>Ещё такое сочетание слов это уникальный поисковый запрос</a:t>
            </a:r>
          </a:p>
          <a:p>
            <a:r>
              <a:rPr lang="ru-RU" dirty="0"/>
              <a:t>Но главное такой я вижу </a:t>
            </a:r>
            <a:r>
              <a:rPr lang="en-US" dirty="0"/>
              <a:t>Wake-word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Итак </a:t>
            </a:r>
            <a:r>
              <a:rPr lang="ru-RU" sz="1200" kern="0" spc="-30" dirty="0">
                <a:solidFill>
                  <a:srgbClr val="000000"/>
                </a:solidFill>
                <a:cs typeface="SB Sans Text" pitchFamily="34" charset="-120"/>
              </a:rPr>
              <a:t>к</a:t>
            </a:r>
            <a:r>
              <a:rPr lang="en-US" sz="12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оманда</a:t>
            </a: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ML2ME</a:t>
            </a: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Решения уже есть, реальная польза – попробовать и описать опыт для сообщества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оставляет телефон рядом</a:t>
            </a:r>
          </a:p>
          <a:p>
            <a:r>
              <a:rPr lang="ru-RU" dirty="0"/>
              <a:t>телефон находится в режиме активного слушанья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идентифицируется как образовательный запрос и ложится в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Cron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 периодичностью (согласно теории забывания) отправляется в телеграм вопрос и 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заблюреный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ответ (+ кнопки "забыть" и "повторять")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далее логику «учителя» планируется усложнять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образовательный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запрос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ложится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в Cron и с 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периодичностью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(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согласно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теории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забывания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)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отправляется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в 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телеграм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вопрос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и «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заблюреный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»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ответ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(+ 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кнопки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«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забыть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» и «</a:t>
            </a:r>
            <a:r>
              <a:rPr lang="en-US" sz="1200" kern="0" spc="-30" dirty="0" err="1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повторять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»)</a:t>
            </a:r>
            <a:endParaRPr lang="ru-RU" sz="12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endParaRPr lang="ru-RU" sz="1200" kern="0" spc="-30" dirty="0">
              <a:solidFill>
                <a:srgbClr val="000000"/>
              </a:solidFill>
              <a:latin typeface="SB Sans Text" pitchFamily="34" charset="0"/>
              <a:cs typeface="SB Sans Text" pitchFamily="34" charset="-120"/>
            </a:endParaRPr>
          </a:p>
          <a:p>
            <a:r>
              <a:rPr lang="ru-RU" sz="1200" dirty="0"/>
              <a:t>иногда бывает, что некоторые книги не записаны в аудиоформате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если я не возьму готовые решения я не осилю проект целиком</a:t>
            </a:r>
          </a:p>
          <a:p>
            <a:endParaRPr lang="ru-RU" sz="12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буду понимать, к чему стремиться в своих более </a:t>
            </a:r>
            <a:r>
              <a:rPr lang="ru-RU" sz="12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секьюрных</a:t>
            </a: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решениях в будущем</a:t>
            </a:r>
            <a:endParaRPr lang="ru-RU" sz="1200" dirty="0"/>
          </a:p>
          <a:p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 безопасностью у него большие проблемы, но, возможно, пока я буду всё остальное настраивать эту проблему порешают. либо при помощи </a:t>
            </a:r>
            <a:r>
              <a:rPr lang="ru-RU" sz="12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промтов</a:t>
            </a: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/правил/… пытаться снизить риски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Слона надо есть по частям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Буду интуитивно понимать уровень работы от топовых </a:t>
            </a:r>
            <a:r>
              <a:rPr lang="ru-RU" sz="1200" dirty="0" err="1"/>
              <a:t>нейронок</a:t>
            </a:r>
            <a:r>
              <a:rPr lang="ru-RU" sz="1200" dirty="0"/>
              <a:t>, будет с чем сравнить свои локальные варианты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Вопрос к преподавателям: правильно я понимаю, что не стоит заморачиваться на тему выбора модели наилучшей в </a:t>
            </a:r>
            <a:r>
              <a:rPr lang="ru-RU" sz="12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ризонинге</a:t>
            </a:r>
            <a:r>
              <a:rPr lang="ru-RU" sz="12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?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F2F3-EAAC-7E2A-0BD5-3D70C979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B2425-9E62-CD78-986E-0D13FEDE5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61B67-14C1-C068-2708-FE5241A97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активационные команды</a:t>
            </a:r>
            <a:r>
              <a:rPr lang="en-US" dirty="0"/>
              <a:t> </a:t>
            </a:r>
            <a:r>
              <a:rPr lang="ru-RU" dirty="0"/>
              <a:t>Алиса,</a:t>
            </a:r>
            <a:r>
              <a:rPr lang="en-US" dirty="0"/>
              <a:t> </a:t>
            </a:r>
            <a:r>
              <a:rPr lang="en-US" baseline="0" dirty="0"/>
              <a:t>OK GOOGLE</a:t>
            </a:r>
            <a:r>
              <a:rPr lang="ru-RU" baseline="0" dirty="0"/>
              <a:t> начинаются с гласных 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 Siri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 близко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звучанию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 аналогии с </a:t>
            </a:r>
            <a:r>
              <a:rPr lang="en-US" dirty="0"/>
              <a:t>CLODE.md</a:t>
            </a:r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0" spc="-30" dirty="0">
                <a:solidFill>
                  <a:srgbClr val="000000"/>
                </a:solidFill>
                <a:cs typeface="SB Sans Text" pitchFamily="34" charset="-120"/>
              </a:rPr>
              <a:t> но не факт, что для генерации речи это большая проблема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6B294-7467-B35A-AB2D-255E83720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86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Перерасход</a:t>
            </a:r>
            <a:r>
              <a:rPr lang="ru-RU" baseline="0" dirty="0"/>
              <a:t> токенов в </a:t>
            </a:r>
            <a:r>
              <a:rPr lang="en-US" dirty="0"/>
              <a:t>API</a:t>
            </a:r>
            <a:r>
              <a:rPr lang="en-US" baseline="0" dirty="0"/>
              <a:t> </a:t>
            </a:r>
            <a:endParaRPr lang="ru-RU" baseline="0" dirty="0"/>
          </a:p>
          <a:p>
            <a:endParaRPr lang="ru-RU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может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потребовать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перехода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к 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готовым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решениям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ru-RU" sz="1200" kern="0" spc="-30" dirty="0">
              <a:solidFill>
                <a:srgbClr val="000000"/>
              </a:solidFill>
              <a:latin typeface="SB Sans Text" pitchFamily="34" charset="0"/>
              <a:ea typeface="SB Sans Text" pitchFamily="34" charset="-122"/>
              <a:cs typeface="SB Sans Text" pitchFamily="34" charset="-120"/>
            </a:endParaRPr>
          </a:p>
          <a:p>
            <a:endParaRPr lang="ru-RU" baseline="0" dirty="0"/>
          </a:p>
          <a:p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может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снижаться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в 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шумной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обстановке</a:t>
            </a:r>
            <a:r>
              <a:rPr lang="en-US" sz="1200" kern="0" spc="-30" dirty="0">
                <a:solidFill>
                  <a:srgbClr val="000000"/>
                </a:solidFill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.</a:t>
            </a:r>
            <a:endParaRPr lang="ru-RU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пока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пусто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будет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наполняться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в 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практической</a:t>
            </a:r>
            <a:r>
              <a:rPr lang="en-US" sz="1200" kern="0" spc="-30" dirty="0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200" kern="0" spc="-30" dirty="0" err="1">
                <a:solidFill>
                  <a:srgbClr val="000000"/>
                </a:solidFill>
                <a:highlight>
                  <a:srgbClr val="FFFF00"/>
                </a:highlight>
                <a:latin typeface="SB Sans Text" pitchFamily="34" charset="0"/>
                <a:ea typeface="SB Sans Text" pitchFamily="34" charset="-122"/>
                <a:cs typeface="SB Sans Text" pitchFamily="34" charset="-120"/>
              </a:rPr>
              <a:t>части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dirty="0">
                <a:highlight>
                  <a:srgbClr val="FFFF00"/>
                </a:highlight>
              </a:rPr>
              <a:t>Открыт для сотрудничества...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200" dirty="0">
                <a:highlight>
                  <a:srgbClr val="FFFF00"/>
                </a:highlight>
              </a:rPr>
              <a:t>Особенно ценно, если у Вас есть опыт промышленной разработки. Мой бэкграунд аналитический, и мне будет чему у Вас научиться с точки зрения качественного кода.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200" dirty="0">
                <a:highlight>
                  <a:srgbClr val="FFFF00"/>
                </a:highlight>
              </a:rPr>
              <a:t>Также, если Вы знаете, как сделать проект более безопасным – это очень полезно.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.me/Qz333" TargetMode="External"/><Relationship Id="rId4" Type="http://schemas.openxmlformats.org/officeDocument/2006/relationships/hyperlink" Target="https://t.me/ml2m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l2me/hey_ll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.me/Qz333" TargetMode="External"/><Relationship Id="rId4" Type="http://schemas.openxmlformats.org/officeDocument/2006/relationships/hyperlink" Target="https://t.me/ml2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-app.sberdevices.ru/misc/0.0.0/assets/gigachat-web/1247d427_Image-Element_(2).png"/>
          <p:cNvPicPr>
            <a:picLocks noChangeAspect="1"/>
          </p:cNvPicPr>
          <p:nvPr/>
        </p:nvPicPr>
        <p:blipFill>
          <a:blip r:embed="rId3"/>
          <a:srcRect l="164" r="164"/>
          <a:stretch/>
        </p:blipFill>
        <p:spPr>
          <a:xfrm>
            <a:off x="0" y="2623185"/>
            <a:ext cx="9144000" cy="2481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3243" y="799554"/>
            <a:ext cx="7345681" cy="1132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6400" b="1" kern="0" spc="12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Эй, БЯМ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783243" y="2038560"/>
            <a:ext cx="7943273" cy="963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Модульный голосовой ассистент, который работает локально и собирается как конструктор под ваши задачи.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83242" y="3066767"/>
            <a:ext cx="7943273" cy="1956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Тип проекта: исследовательский (для опыта) / прототип open-source продукта.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Команда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 ML2ME ( </a:t>
            </a:r>
            <a:r>
              <a:rPr lang="en-US" sz="1600" u="sng" kern="0" spc="-30" dirty="0">
                <a:solidFill>
                  <a:srgbClr val="2B2BEE"/>
                </a:solidFill>
                <a:ea typeface="SB Sans Text" pitchFamily="34" charset="-122"/>
                <a:cs typeface="SB Sans Text" pitchFamily="34" charset="-120"/>
                <a:hlinkClick r:id="rId4" tooltip="https://t.me/ml2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https://t.me/ml2me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)</a:t>
            </a:r>
            <a:endParaRPr lang="en-US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Участник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Громов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Ваня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( </a:t>
            </a:r>
            <a:r>
              <a:rPr lang="en-US" sz="1600" u="sng" kern="0" spc="-30" dirty="0">
                <a:solidFill>
                  <a:srgbClr val="2B2BEE"/>
                </a:solidFill>
                <a:ea typeface="SB Sans Text" pitchFamily="34" charset="-122"/>
                <a:cs typeface="SB Sans Text" pitchFamily="34" charset="-120"/>
                <a:hlinkClick r:id="rId5" tooltip="https://t.me/Qz3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https://t.me/Qz333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)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60ee-79be-90fe-0aaffd49462f.jpg"/>
          <p:cNvPicPr>
            <a:picLocks noChangeAspect="1"/>
          </p:cNvPicPr>
          <p:nvPr/>
        </p:nvPicPr>
        <p:blipFill>
          <a:blip r:embed="rId3"/>
          <a:srcRect l="13674" r="13674"/>
          <a:stretch/>
        </p:blipFill>
        <p:spPr>
          <a:xfrm>
            <a:off x="4572000" y="1543050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Проблема: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" y="874396"/>
            <a:ext cx="3931920" cy="1912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kern="0" spc="-30" dirty="0">
                <a:solidFill>
                  <a:srgbClr val="000000"/>
                </a:solidFill>
                <a:cs typeface="SB Sans Text" pitchFamily="34" charset="-120"/>
              </a:rPr>
              <a:t>Постоянное слушание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endParaRPr lang="ru-RU" sz="1600" kern="0" spc="-30" dirty="0">
              <a:solidFill>
                <a:srgbClr val="000000"/>
              </a:solidFill>
              <a:cs typeface="SB Sans Text" pitchFamily="34" charset="-120"/>
            </a:endParaRPr>
          </a:p>
          <a:p>
            <a:pPr marL="342900" indent="-3429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kern="0" spc="-30" dirty="0">
                <a:solidFill>
                  <a:srgbClr val="000000"/>
                </a:solidFill>
                <a:cs typeface="SB Sans Text" pitchFamily="34" charset="-120"/>
              </a:rPr>
              <a:t>Индивидуальный проект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endParaRPr lang="ru-RU" sz="1600" kern="0" spc="-30" dirty="0">
              <a:solidFill>
                <a:srgbClr val="000000"/>
              </a:solidFill>
              <a:cs typeface="SB Sans Text" pitchFamily="34" charset="-120"/>
            </a:endParaRPr>
          </a:p>
          <a:p>
            <a:pPr marL="342900" indent="-3429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Доступ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к 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личной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и 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финансовой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информации</a:t>
            </a:r>
            <a:endParaRPr lang="en-US" sz="1600" dirty="0"/>
          </a:p>
          <a:p>
            <a:pPr marL="342900" indent="-3429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+mj-lt"/>
              <a:buAutoNum type="arabicPeriod"/>
            </a:pPr>
            <a:endParaRPr lang="ru-RU" sz="1300" kern="0" spc="-30" dirty="0">
              <a:solidFill>
                <a:srgbClr val="000000"/>
              </a:solidFill>
              <a:latin typeface="SB Sans Text" pitchFamily="34" charset="0"/>
              <a:cs typeface="SB Sans Text" pitchFamily="34" charset="-120"/>
            </a:endParaRPr>
          </a:p>
          <a:p>
            <a:pPr marL="342900" indent="-3429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+mj-lt"/>
              <a:buAutoNum type="arabicPeriod"/>
            </a:pPr>
            <a:endParaRPr lang="ru-RU" sz="1300" kern="0" spc="-30" dirty="0">
              <a:solidFill>
                <a:srgbClr val="000000"/>
              </a:solidFill>
              <a:latin typeface="SB Sans Text" pitchFamily="34" charset="0"/>
              <a:cs typeface="SB Sans Text" pitchFamily="34" charset="-120"/>
            </a:endParaRP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0045"/>
            <a:ext cx="7333642" cy="469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 b="1" kern="0" spc="12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Пользовательский сценарий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37310"/>
            <a:ext cx="8321040" cy="3651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3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3FB4B6-D0CB-5C93-AAF4-2C99CF8D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2193"/>
            <a:ext cx="6926409" cy="40570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fbc-7f04-9187-450296d10a08.jpg"/>
          <p:cNvPicPr>
            <a:picLocks noChangeAspect="1"/>
          </p:cNvPicPr>
          <p:nvPr/>
        </p:nvPicPr>
        <p:blipFill>
          <a:blip r:embed="rId3"/>
          <a:srcRect l="9496" r="9496"/>
          <a:stretch/>
        </p:blipFill>
        <p:spPr>
          <a:xfrm>
            <a:off x="6949440" y="308610"/>
            <a:ext cx="21390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0991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2100" dirty="0"/>
          </a:p>
        </p:txBody>
      </p:sp>
      <p:sp>
        <p:nvSpPr>
          <p:cNvPr id="6" name="Text 0"/>
          <p:cNvSpPr/>
          <p:nvPr/>
        </p:nvSpPr>
        <p:spPr>
          <a:xfrm>
            <a:off x="365759" y="208722"/>
            <a:ext cx="1595231" cy="408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4049541-F80B-2362-9A3C-E6FA53B47949}"/>
              </a:ext>
            </a:extLst>
          </p:cNvPr>
          <p:cNvSpPr/>
          <p:nvPr/>
        </p:nvSpPr>
        <p:spPr>
          <a:xfrm>
            <a:off x="365759" y="717108"/>
            <a:ext cx="6392850" cy="4117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dirty="0"/>
              <a:t>Модульный ассистент, который можно развернуть на своём сервере и управлять им голосом с </a:t>
            </a:r>
            <a:r>
              <a:rPr lang="ru-RU" sz="1600" dirty="0" err="1"/>
              <a:t>Android</a:t>
            </a:r>
            <a:r>
              <a:rPr lang="ru-RU" sz="1600" dirty="0"/>
              <a:t>-смартфона. 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endParaRPr lang="ru-RU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dirty="0"/>
              <a:t>Компоненты: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детектор команды пробуждения,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распознавание речи,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LLM,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синтез речи 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endParaRPr lang="ru-RU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dirty="0"/>
              <a:t>Навыки: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учитель,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 err="1"/>
              <a:t>суммаризатор</a:t>
            </a:r>
            <a:r>
              <a:rPr lang="ru-RU" sz="1600" dirty="0"/>
              <a:t>,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чтец книг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endParaRPr lang="ru-RU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7310" y="233570"/>
            <a:ext cx="8574157" cy="45720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600" b="1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Ядро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 </a:t>
            </a:r>
            <a:r>
              <a:rPr lang="en-US" sz="1600" dirty="0" err="1"/>
              <a:t>OpenClaw</a:t>
            </a:r>
            <a:r>
              <a:rPr lang="ru-RU" sz="1600" dirty="0"/>
              <a:t>:</a:t>
            </a:r>
          </a:p>
          <a:p>
            <a:pPr marL="742950" lvl="1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Слона надо есть по частям</a:t>
            </a:r>
          </a:p>
          <a:p>
            <a:pPr marL="742950" lvl="1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Зарекомендовавшее себя решение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Риски:</a:t>
            </a:r>
          </a:p>
          <a:p>
            <a:pPr marL="685800" lvl="1" indent="-2286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Чтобы «пересесть» на другое решение надо будет всё настраивать заново </a:t>
            </a:r>
          </a:p>
          <a:p>
            <a:pPr marL="685800" lvl="1" indent="-2286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Проблемы с </a:t>
            </a:r>
            <a:r>
              <a:rPr lang="ru-RU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безопастностью</a:t>
            </a: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171450" indent="-1714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 дальнейшем возможно рассмотреть что-то простое, но самописное </a:t>
            </a: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600" b="1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600" b="1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LLM</a:t>
            </a:r>
            <a:endParaRPr lang="en-US" sz="1600" b="1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 API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от лидеров отрасли</a:t>
            </a:r>
            <a:endParaRPr lang="ru-RU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 дальнейшем  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qwen3.5:9b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072FBC-0385-4162-6EAA-DF8F9906D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6F086B-0D1E-F29D-0738-E1A1D2E14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E348-89C7-3420-7526-D3955B5C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54575BE-173E-A8A4-0CDD-B27879E1BA54}"/>
              </a:ext>
            </a:extLst>
          </p:cNvPr>
          <p:cNvSpPr/>
          <p:nvPr/>
        </p:nvSpPr>
        <p:spPr>
          <a:xfrm>
            <a:off x="59635" y="49696"/>
            <a:ext cx="9044607" cy="504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2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Wake-word (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команда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пробуждения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) = «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Эй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, БЯМ»</a:t>
            </a:r>
            <a:endParaRPr lang="en-US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 Porcupine (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от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Picovoice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) –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заявляется как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модель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,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способная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работать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на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Android в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реальном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времени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.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Распознавание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речи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(ASR)</a:t>
            </a:r>
            <a:endParaRPr lang="en-US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Vosk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или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Whisper (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локальная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версия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)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Память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учителя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</a:t>
            </a:r>
            <a:endParaRPr lang="en-US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 txt 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фактами</a:t>
            </a:r>
            <a:endParaRPr lang="en-US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на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будущее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 RAG с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векторной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базой</a:t>
            </a: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endParaRPr lang="ru-RU" sz="1600" kern="0" spc="-30" dirty="0">
              <a:solidFill>
                <a:srgbClr val="000000"/>
              </a:solidFill>
              <a:cs typeface="SB Sans Text" pitchFamily="34" charset="-120"/>
            </a:endParaRP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dirty="0"/>
              <a:t>Генерация речи</a:t>
            </a:r>
            <a:endParaRPr lang="en-US" sz="1600" dirty="0"/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baseline: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>
                <a:solidFill>
                  <a:srgbClr val="000000"/>
                </a:solidFill>
                <a:cs typeface="SB Sans Text" pitchFamily="34" charset="-120"/>
              </a:rPr>
              <a:t>Inworld AI TTS</a:t>
            </a:r>
            <a:r>
              <a:rPr lang="ru-RU" sz="1600" kern="0" spc="-30" dirty="0">
                <a:solidFill>
                  <a:srgbClr val="000000"/>
                </a:solidFill>
                <a:cs typeface="SB Sans Text" pitchFamily="34" charset="-120"/>
              </a:rPr>
              <a:t> (платное </a:t>
            </a:r>
            <a:r>
              <a:rPr lang="en-US" sz="1600" kern="0" spc="-30" dirty="0">
                <a:solidFill>
                  <a:srgbClr val="000000"/>
                </a:solidFill>
                <a:cs typeface="SB Sans Text" pitchFamily="34" charset="-120"/>
              </a:rPr>
              <a:t>API</a:t>
            </a:r>
            <a:r>
              <a:rPr lang="ru-RU" sz="1600" kern="0" spc="-30" dirty="0">
                <a:solidFill>
                  <a:srgbClr val="000000"/>
                </a:solidFill>
                <a:cs typeface="SB Sans Text" pitchFamily="34" charset="-120"/>
              </a:rPr>
              <a:t>) </a:t>
            </a:r>
          </a:p>
          <a:p>
            <a:pPr marL="285750" indent="-28575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на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будущее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Qwen3-TTS Portable PRO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805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ab2-701e-af70-fecd981aa4c6.jpg"/>
          <p:cNvPicPr>
            <a:picLocks noChangeAspect="1"/>
          </p:cNvPicPr>
          <p:nvPr/>
        </p:nvPicPr>
        <p:blipFill>
          <a:blip r:embed="rId3"/>
          <a:srcRect l="13674" r="13674"/>
          <a:stretch/>
        </p:blipFill>
        <p:spPr>
          <a:xfrm>
            <a:off x="4572000" y="1543050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59" y="308609"/>
            <a:ext cx="7045693" cy="7982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32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Риски</a:t>
            </a:r>
            <a:r>
              <a:rPr lang="en-US" sz="32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 и ограничения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" y="1326911"/>
            <a:ext cx="3931920" cy="3662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Стоимость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реализации</a:t>
            </a: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Сложность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интеграции</a:t>
            </a:r>
            <a:endParaRPr lang="ru-RU" sz="1600" kern="0" spc="-30" dirty="0">
              <a:solidFill>
                <a:srgbClr val="000000"/>
              </a:solidFill>
              <a:ea typeface="SB Sans Text" pitchFamily="34" charset="-122"/>
              <a:cs typeface="SB Sans Text" pitchFamily="34" charset="-120"/>
            </a:endParaRP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Зависимость от «железа» в локальной реализации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Качество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распознавания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речи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10-2ce7-7a12-8e37-b9f699ab11ca.jpg"/>
          <p:cNvPicPr>
            <a:picLocks noChangeAspect="1"/>
          </p:cNvPicPr>
          <p:nvPr/>
        </p:nvPicPr>
        <p:blipFill>
          <a:blip r:embed="rId3"/>
          <a:srcRect l="9496" r="9496"/>
          <a:stretch/>
        </p:blipFill>
        <p:spPr>
          <a:xfrm>
            <a:off x="6766560" y="257175"/>
            <a:ext cx="21390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Реализация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59" y="771525"/>
            <a:ext cx="4633623" cy="9479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FontTx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Текущий статус: </a:t>
            </a:r>
            <a:r>
              <a:rPr lang="ru-RU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и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дея</a:t>
            </a: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MVP одного навыка после практической части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5759" y="1781341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1600" b="1" kern="0" spc="-40" dirty="0" err="1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Дальнейшее</a:t>
            </a:r>
            <a:r>
              <a:rPr lang="en-US" sz="16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 </a:t>
            </a:r>
            <a:r>
              <a:rPr lang="en-US" sz="1600" b="1" kern="0" spc="-40" dirty="0" err="1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развитие</a:t>
            </a:r>
            <a:r>
              <a:rPr lang="en-US" sz="1600" b="1" kern="0" spc="-40" dirty="0">
                <a:solidFill>
                  <a:srgbClr val="000000"/>
                </a:solidFill>
                <a:ea typeface="SB Sans Display Bold" pitchFamily="34" charset="-122"/>
                <a:cs typeface="SB Sans Display Bold" pitchFamily="34" charset="-120"/>
              </a:rPr>
              <a:t>:</a:t>
            </a: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Поддержка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умного дома</a:t>
            </a: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RAG по личным данным</a:t>
            </a: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Балансировщик между API и локальным инференсом</a:t>
            </a:r>
            <a:endParaRPr lang="en-US" sz="1600" dirty="0"/>
          </a:p>
          <a:p>
            <a:pPr marL="177800" indent="-17780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Мультиагентные сценарии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65759" y="3489132"/>
            <a:ext cx="4663440" cy="9240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Репозиторий: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u="sng" kern="0" spc="-30" dirty="0">
                <a:solidFill>
                  <a:srgbClr val="2B2BEE"/>
                </a:solidFill>
                <a:ea typeface="SB Sans Text" pitchFamily="34" charset="-122"/>
                <a:cs typeface="SB Sans Text" pitchFamily="34" charset="-120"/>
                <a:hlinkClick r:id="rId4" tooltip="https://github.com/ml2me/hey_ll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https://github.com/ml2me/hey_llm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rod-gc.cdn.giga.chat/019aa7e6-0a33-76d0-a18e-aa4e4a7d4844/019d1b0f-efcc-71f9-8cf3-f90abb7b6cc4.jpg"/>
          <p:cNvPicPr>
            <a:picLocks noChangeAspect="1"/>
          </p:cNvPicPr>
          <p:nvPr/>
        </p:nvPicPr>
        <p:blipFill>
          <a:blip r:embed="rId3"/>
          <a:srcRect t="17568" b="17568"/>
          <a:stretch/>
        </p:blipFill>
        <p:spPr>
          <a:xfrm>
            <a:off x="4572000" y="0"/>
            <a:ext cx="4531179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766" y="308610"/>
            <a:ext cx="4043238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 b="1" kern="0" spc="120" dirty="0">
                <a:solidFill>
                  <a:srgbClr val="000000"/>
                </a:solidFill>
                <a:latin typeface="SB Sans Display Bold" pitchFamily="34" charset="0"/>
                <a:ea typeface="SB Sans Display Bold" pitchFamily="34" charset="-122"/>
                <a:cs typeface="SB Sans Display Bold" pitchFamily="34" charset="-120"/>
              </a:rPr>
              <a:t>Спасибо за внимание!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C3C40B7-6B2C-F047-1315-BCC10AF52BFC}"/>
              </a:ext>
            </a:extLst>
          </p:cNvPr>
          <p:cNvSpPr/>
          <p:nvPr/>
        </p:nvSpPr>
        <p:spPr>
          <a:xfrm>
            <a:off x="364766" y="2220686"/>
            <a:ext cx="4043238" cy="2763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600" dirty="0"/>
              <a:t>Проект нравится? Буду рад вашему участию!</a:t>
            </a: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endParaRPr lang="ru-RU" sz="1600" dirty="0">
              <a:highlight>
                <a:srgbClr val="FFFF00"/>
              </a:highlight>
            </a:endParaRPr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endParaRPr lang="ru-RU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Команда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: ML2ME ( </a:t>
            </a:r>
            <a:r>
              <a:rPr lang="en-US" sz="1600" u="sng" kern="0" spc="-30" dirty="0">
                <a:solidFill>
                  <a:srgbClr val="2B2BEE"/>
                </a:solidFill>
                <a:ea typeface="SB Sans Text" pitchFamily="34" charset="-122"/>
                <a:cs typeface="SB Sans Text" pitchFamily="34" charset="-120"/>
                <a:hlinkClick r:id="rId4" tooltip="https://t.me/ml2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https://t.me/ml2me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)</a:t>
            </a:r>
            <a:endParaRPr lang="en-US" sz="1600" dirty="0"/>
          </a:p>
          <a:p>
            <a:pPr>
              <a:lnSpc>
                <a:spcPts val="208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Громов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</a:t>
            </a:r>
            <a:r>
              <a:rPr lang="en-US" sz="1600" kern="0" spc="-30" dirty="0" err="1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Ваня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( </a:t>
            </a:r>
            <a:r>
              <a:rPr lang="en-US" sz="1600" u="sng" kern="0" spc="-30" dirty="0">
                <a:solidFill>
                  <a:srgbClr val="2B2BEE"/>
                </a:solidFill>
                <a:ea typeface="SB Sans Text" pitchFamily="34" charset="-122"/>
                <a:cs typeface="SB Sans Text" pitchFamily="34" charset="-120"/>
                <a:hlinkClick r:id="rId5" tooltip="https://t.me/Qz3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https://t.me/Qz333</a:t>
            </a:r>
            <a:r>
              <a:rPr lang="en-US" sz="1600" kern="0" spc="-30" dirty="0">
                <a:solidFill>
                  <a:srgbClr val="000000"/>
                </a:solidFill>
                <a:ea typeface="SB Sans Text" pitchFamily="34" charset="-122"/>
                <a:cs typeface="SB Sans Text" pitchFamily="34" charset="-120"/>
              </a:rPr>
              <a:t> 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691</Words>
  <Application>Microsoft Office PowerPoint</Application>
  <PresentationFormat>Экран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SB Sans Display Bold</vt:lpstr>
      <vt:lpstr>Arial</vt:lpstr>
      <vt:lpstr>SB Sans Text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19</cp:revision>
  <dcterms:created xsi:type="dcterms:W3CDTF">2026-03-23T18:41:05Z</dcterms:created>
  <dcterms:modified xsi:type="dcterms:W3CDTF">2026-03-25T10:07:28Z</dcterms:modified>
</cp:coreProperties>
</file>